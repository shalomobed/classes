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96" r:id="rId3"/>
    <p:sldId id="295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614"/>
  </p:normalViewPr>
  <p:slideViewPr>
    <p:cSldViewPr snapToGrid="0">
      <p:cViewPr varScale="1">
        <p:scale>
          <a:sx n="101" d="100"/>
          <a:sy n="101" d="100"/>
        </p:scale>
        <p:origin x="5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1A17B-A4BC-1771-DFC7-210806D797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1491C0-B427-C17A-E4B2-667526BD84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FEDF33-32AA-68DA-14FC-8BDD5AB20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042AB-4A44-F84F-9510-A2E83DC42DAE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F76E8-A4A1-383F-B5D3-5AAAE492A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DD1E8-7708-C1DD-2F63-E800AB8F7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1606F-61AD-F042-A702-25F811201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351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011B4-EC11-924C-2F3F-437624FA4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D9CC7-6919-5536-2602-5FD8AAF27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FCCC5-A27D-9681-85E8-FD20CED92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042AB-4A44-F84F-9510-A2E83DC42DAE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E6484-5A0A-9942-89D4-58BAE417B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03BA09-D3A0-EDCD-BFDA-30EC26AD2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1606F-61AD-F042-A702-25F811201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143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88BE0-E579-9096-93C1-E1934CCD4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F6E80-707B-EA22-284F-E4743DF59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54F03-D268-3E67-B5BE-A0D0E0D73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042AB-4A44-F84F-9510-A2E83DC42DAE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FBBD8-EECF-D992-4E9A-CC98738AF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ACCC1-04CD-FE6D-391E-47185A8F9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1606F-61AD-F042-A702-25F811201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627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A80A4-2727-370F-7A4D-259F05C0D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EB1B9-40C5-44C6-6F5F-FB451D5802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11613E-65AB-C8E7-797C-A118F92E28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49C6A0-56DE-CDF5-56EE-70899BC42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042AB-4A44-F84F-9510-A2E83DC42DAE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71B1A5-52A8-5A5D-703B-C225A63F8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37D10B-0997-8A8C-8987-51B8C290E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1606F-61AD-F042-A702-25F811201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098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17F5F-168B-DECE-EE2F-BE9FB6CF1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66771-5E5D-5D85-2988-03B122D2D9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B170B9-2055-B62B-AE2B-7064ECB8B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8C0A94-297C-A1B0-C23F-881BA4B734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5BDDB-A485-EEA7-30F4-89057A6664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A9B5C3-8D2A-1B82-955D-C99F07C6B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042AB-4A44-F84F-9510-A2E83DC42DAE}" type="datetimeFigureOut">
              <a:rPr lang="en-US" smtClean="0"/>
              <a:t>11/9/25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861954-E9B3-018F-2BB2-420AC9940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000138-2CD8-4811-17E8-9915D6E73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1606F-61AD-F042-A702-25F811201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830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B9601-3768-426E-897B-0CA6D8A40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B5C0E3-2BD2-400E-2288-66A769794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042AB-4A44-F84F-9510-A2E83DC42DAE}" type="datetimeFigureOut">
              <a:rPr lang="en-US" smtClean="0"/>
              <a:t>11/9/25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660128-B536-7E57-3D10-3094BFEE4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B8224D-2A61-C5E5-BA3E-A45407B9F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1606F-61AD-F042-A702-25F811201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177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B3259A-C490-37E6-D04E-16E14EE46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042AB-4A44-F84F-9510-A2E83DC42DAE}" type="datetimeFigureOut">
              <a:rPr lang="en-US" smtClean="0"/>
              <a:t>11/9/25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732743-D39F-159D-A442-32A162159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A86CB0-BD8D-5F14-1F0F-74569FA6A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1606F-61AD-F042-A702-25F811201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490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94A07-4D4B-DD9F-CD1E-F6F87080D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FBF44-467B-F4F6-E54A-BBBA382AF3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58B6E6-223D-A70C-3372-5AA3FC7B0B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0EAFBE-0FC4-0410-6039-0451601EF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042AB-4A44-F84F-9510-A2E83DC42DAE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57291-0E3B-612E-74AA-31DE1FA43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CEA29E-0319-1047-6F81-FC94716A2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1606F-61AD-F042-A702-25F811201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136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E29D7-E972-8DBE-3AD0-F8BE8DA9D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5D9861-6F23-6519-E62A-C823AE6EB3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23BD83-FA4D-89F0-47B3-A11739D012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A11553-56D1-24A6-34B2-5B9345F7A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042AB-4A44-F84F-9510-A2E83DC42DAE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8D5C31-0786-1CDA-500F-AB397F595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A37BC1-3B3C-907C-CF70-F0890E6DD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1606F-61AD-F042-A702-25F811201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9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5AFD9-A873-6995-AAE3-C48BF28ED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79F92F-C136-78F0-FE08-ACCDAC9850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77AAE-104B-91B9-A90A-E64B1CAD5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042AB-4A44-F84F-9510-A2E83DC42DAE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26B50E-F569-CA07-75CC-969A1B1BE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B769B6-C882-07DF-F433-50A8EE2AD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1606F-61AD-F042-A702-25F811201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761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EA3FFC-4662-7300-BCBF-16D00A7CA6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309A46-E0C2-B2D2-1E1C-2BB6F55476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E0D254-0A68-AC96-F6AF-B1B3B9737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042AB-4A44-F84F-9510-A2E83DC42DAE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4180A-F27E-32EF-55E1-A04E5C3F8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613E8-124A-CBED-639A-EFBBF5054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1606F-61AD-F042-A702-25F811201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015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258397-43F1-5D6D-0B09-AAA880CDF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9468B4-1EC7-C9B1-7886-63A0E7E09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1CAB2-C40B-D2D2-6009-282A758B97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3042AB-4A44-F84F-9510-A2E83DC42DAE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576A27-D9EB-9682-9A93-770FCAD4EA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7CE5BC-62EA-C0B0-DA90-01354355F4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51606F-61AD-F042-A702-25F811201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177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ackerrank.com/challenges/contacts/problem" TargetMode="Externa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249B6-B5F4-2DE0-F984-AF06386566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2707" y="1766812"/>
            <a:ext cx="9586586" cy="2622919"/>
          </a:xfrm>
        </p:spPr>
        <p:txBody>
          <a:bodyPr>
            <a:normAutofit/>
          </a:bodyPr>
          <a:lstStyle/>
          <a:p>
            <a:r>
              <a:rPr lang="en-US" sz="3200" dirty="0"/>
              <a:t>Lab 12</a:t>
            </a:r>
            <a:br>
              <a:rPr lang="en-US" sz="3200" dirty="0"/>
            </a:br>
            <a:br>
              <a:rPr lang="en-US" sz="4400" dirty="0"/>
            </a:b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176282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70A16-3982-E65A-1A77-B5C808049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2648" y="415556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 err="1"/>
              <a:t>HackerRank</a:t>
            </a:r>
            <a:r>
              <a:rPr lang="en-US" sz="3200" dirty="0"/>
              <a:t> – Trie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1FDE16-DAC8-7AB6-712D-75564FBAFC32}"/>
              </a:ext>
            </a:extLst>
          </p:cNvPr>
          <p:cNvSpPr txBox="1"/>
          <p:nvPr/>
        </p:nvSpPr>
        <p:spPr>
          <a:xfrm>
            <a:off x="1293835" y="1954062"/>
            <a:ext cx="9220216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0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Solve the following problem:</a:t>
            </a:r>
          </a:p>
          <a:p>
            <a:endParaRPr lang="en-US" sz="2200" b="0" i="0" dirty="0">
              <a:solidFill>
                <a:srgbClr val="000000"/>
              </a:solidFill>
              <a:effectLst/>
              <a:latin typeface="Helvetica Neue" panose="02000503000000020004" pitchFamily="2" charset="0"/>
            </a:endParaRPr>
          </a:p>
          <a:p>
            <a:r>
              <a:rPr lang="en-US" sz="2200" b="0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  <a:hlinkClick r:id="rId2"/>
              </a:rPr>
              <a:t>https://www.hackerrank.com/challenges/contacts/problem</a:t>
            </a:r>
            <a:endParaRPr lang="en-US" sz="2200" b="0" i="0" dirty="0">
              <a:solidFill>
                <a:srgbClr val="000000"/>
              </a:solidFill>
              <a:effectLst/>
              <a:latin typeface="Helvetica Neue" panose="02000503000000020004" pitchFamily="2" charset="0"/>
            </a:endParaRPr>
          </a:p>
          <a:p>
            <a:endParaRPr lang="en-US" sz="2200" dirty="0">
              <a:solidFill>
                <a:srgbClr val="000000"/>
              </a:solidFill>
              <a:latin typeface="Helvetica Neue" panose="02000503000000020004" pitchFamily="2" charset="0"/>
            </a:endParaRPr>
          </a:p>
          <a:p>
            <a:r>
              <a:rPr lang="en-US" sz="2200" dirty="0">
                <a:solidFill>
                  <a:srgbClr val="000000"/>
                </a:solidFill>
                <a:latin typeface="Helvetica Neue" panose="02000503000000020004" pitchFamily="2" charset="0"/>
              </a:rPr>
              <a:t>Note: </a:t>
            </a:r>
            <a:r>
              <a:rPr lang="en-US" sz="2200" dirty="0">
                <a:solidFill>
                  <a:srgbClr val="FF0000"/>
                </a:solidFill>
                <a:latin typeface="Helvetica Neue" panose="02000503000000020004" pitchFamily="2" charset="0"/>
              </a:rPr>
              <a:t>Use a Trie to solve this problem. The Trie implementation must be </a:t>
            </a:r>
          </a:p>
          <a:p>
            <a:r>
              <a:rPr lang="en-US" sz="2200" dirty="0">
                <a:solidFill>
                  <a:srgbClr val="FF0000"/>
                </a:solidFill>
                <a:latin typeface="Helvetica Neue" panose="02000503000000020004" pitchFamily="2" charset="0"/>
              </a:rPr>
              <a:t>based on a hash table (e.g. Python dictionary).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861471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9FD35-8A4D-3B4A-AC25-A89E0E5C9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1920" y="447707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Submission Instructions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338A41-AB0C-6620-52B8-F9F3B7089747}"/>
              </a:ext>
            </a:extLst>
          </p:cNvPr>
          <p:cNvSpPr txBox="1"/>
          <p:nvPr/>
        </p:nvSpPr>
        <p:spPr>
          <a:xfrm>
            <a:off x="1138824" y="1692688"/>
            <a:ext cx="10284913" cy="3411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Submit the following in iCollege:</a:t>
            </a:r>
          </a:p>
          <a:p>
            <a:pPr marL="1028700" marR="0" lvl="1" indent="-5715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Python script/solution (FULL_NAME_Lab12.py)</a:t>
            </a:r>
          </a:p>
          <a:p>
            <a:pPr marL="1028700" marR="0" lvl="1" indent="-5715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lang="en-US" sz="2200" dirty="0">
                <a:solidFill>
                  <a:prstClr val="black"/>
                </a:solidFill>
                <a:latin typeface="Calibri" panose="020F0502020204030204"/>
              </a:rPr>
              <a:t>Screenshot of </a:t>
            </a:r>
            <a:r>
              <a:rPr lang="en-US" sz="2200" dirty="0" err="1">
                <a:solidFill>
                  <a:prstClr val="black"/>
                </a:solidFill>
                <a:latin typeface="Calibri" panose="020F0502020204030204"/>
              </a:rPr>
              <a:t>HackerRank</a:t>
            </a:r>
            <a:r>
              <a:rPr lang="en-US" sz="2200" dirty="0">
                <a:solidFill>
                  <a:prstClr val="black"/>
                </a:solidFill>
                <a:latin typeface="Calibri" panose="020F0502020204030204"/>
              </a:rPr>
              <a:t> submission/acceptance. </a:t>
            </a:r>
          </a:p>
          <a:p>
            <a:pPr marL="1028700" marR="0" lvl="1" indent="-5715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Due date/time for submission: Within 24 hours from your lab’s end time.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2200" dirty="0">
                <a:solidFill>
                  <a:prstClr val="black"/>
                </a:solidFill>
                <a:latin typeface="Calibri" panose="020F0502020204030204"/>
              </a:rPr>
              <a:t>Lab attendance is mandatory. Your </a:t>
            </a:r>
            <a:r>
              <a:rPr lang="en-US" sz="2200" dirty="0" err="1">
                <a:solidFill>
                  <a:prstClr val="black"/>
                </a:solidFill>
                <a:latin typeface="Calibri" panose="020F0502020204030204"/>
              </a:rPr>
              <a:t>iCollege</a:t>
            </a:r>
            <a:r>
              <a:rPr lang="en-US" sz="2200" dirty="0">
                <a:solidFill>
                  <a:prstClr val="black"/>
                </a:solidFill>
                <a:latin typeface="Calibri" panose="020F0502020204030204"/>
              </a:rPr>
              <a:t> submission will only be considered for grading if you attend the corresponding lab session in-person.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2200" dirty="0">
              <a:solidFill>
                <a:prstClr val="black"/>
              </a:solidFill>
              <a:highlight>
                <a:srgbClr val="FFFF00"/>
              </a:highlight>
              <a:latin typeface="Calibri" panose="020F0502020204030204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lang="en-US" sz="2200" dirty="0">
                <a:solidFill>
                  <a:prstClr val="black"/>
                </a:solidFill>
                <a:highlight>
                  <a:srgbClr val="FFFF00"/>
                </a:highlight>
                <a:latin typeface="Calibri" panose="020F0502020204030204"/>
              </a:rPr>
              <a:t>Be prepared to answer a few questions on your solution/partial solution during the lab session. 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7675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2644</TotalTime>
  <Words>138</Words>
  <Application>Microsoft Macintosh PowerPoint</Application>
  <PresentationFormat>Widescreen</PresentationFormat>
  <Paragraphs>16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Helvetica Neue</vt:lpstr>
      <vt:lpstr>Wingdings</vt:lpstr>
      <vt:lpstr>Office Theme</vt:lpstr>
      <vt:lpstr>Lab 12  </vt:lpstr>
      <vt:lpstr>HackerRank – Trie</vt:lpstr>
      <vt:lpstr>Submission Instructions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 M Towhidul Islam</dc:creator>
  <cp:lastModifiedBy>S M Towhidul Islam</cp:lastModifiedBy>
  <cp:revision>126</cp:revision>
  <dcterms:created xsi:type="dcterms:W3CDTF">2024-09-15T21:36:41Z</dcterms:created>
  <dcterms:modified xsi:type="dcterms:W3CDTF">2025-11-09T19:20:58Z</dcterms:modified>
</cp:coreProperties>
</file>