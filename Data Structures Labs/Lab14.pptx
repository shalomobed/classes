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14"/>
  </p:normalViewPr>
  <p:slideViewPr>
    <p:cSldViewPr snapToGrid="0">
      <p:cViewPr varScale="1">
        <p:scale>
          <a:sx n="101" d="100"/>
          <a:sy n="101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A17B-A4BC-1771-DFC7-210806D79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491C0-B427-C17A-E4B2-667526BD8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EDF33-32AA-68DA-14FC-8BDD5AB2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76E8-A4A1-383F-B5D3-5AAAE492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DD1E8-7708-C1DD-2F63-E800AB8F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5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11B4-EC11-924C-2F3F-437624FA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D9CC7-6919-5536-2602-5FD8AAF27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FCCC5-A27D-9681-85E8-FD20CED9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E6484-5A0A-9942-89D4-58BAE417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3BA09-D3A0-EDCD-BFDA-30EC26AD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4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8BE0-E579-9096-93C1-E1934CCD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F6E80-707B-EA22-284F-E4743DF59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54F03-D268-3E67-B5BE-A0D0E0D7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FBBD8-EECF-D992-4E9A-CC98738A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CCC1-04CD-FE6D-391E-47185A8F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2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80A4-2727-370F-7A4D-259F05C0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B1B9-40C5-44C6-6F5F-FB451D580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1613E-65AB-C8E7-797C-A118F92E2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9C6A0-56DE-CDF5-56EE-70899BC4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1B1A5-52A8-5A5D-703B-C225A63F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7D10B-0997-8A8C-8987-51B8C290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7F5F-168B-DECE-EE2F-BE9FB6CF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66771-5E5D-5D85-2988-03B122D2D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170B9-2055-B62B-AE2B-7064ECB8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C0A94-297C-A1B0-C23F-881BA4B73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5BDDB-A485-EEA7-30F4-89057A666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9B5C3-8D2A-1B82-955D-C99F07C6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61954-E9B3-018F-2BB2-420AC994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00138-2CD8-4811-17E8-9915D6E7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3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9601-3768-426E-897B-0CA6D8A4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5C0E3-2BD2-400E-2288-66A76979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60128-B536-7E57-3D10-3094BFEE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224D-2A61-C5E5-BA3E-A45407B9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7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3259A-C490-37E6-D04E-16E14EE4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32743-D39F-159D-A442-32A16215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86CB0-BD8D-5F14-1F0F-74569FA6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9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4A07-4D4B-DD9F-CD1E-F6F87080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BF44-467B-F4F6-E54A-BBBA382AF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8B6E6-223D-A70C-3372-5AA3FC7B0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EAFBE-0FC4-0410-6039-0451601E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57291-0E3B-612E-74AA-31DE1FA4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EA29E-0319-1047-6F81-FC94716A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3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29D7-E972-8DBE-3AD0-F8BE8DA9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D9861-6F23-6519-E62A-C823AE6EB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3BD83-FA4D-89F0-47B3-A11739D01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11553-56D1-24A6-34B2-5B9345F7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D5C31-0786-1CDA-500F-AB397F59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7BC1-3B3C-907C-CF70-F0890E6D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AFD9-A873-6995-AAE3-C48BF28E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9F92F-C136-78F0-FE08-ACCDAC985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77AAE-104B-91B9-A90A-E64B1CAD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6B50E-F569-CA07-75CC-969A1B1B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769B6-C882-07DF-F433-50A8EE2A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6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A3FFC-4662-7300-BCBF-16D00A7CA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09A46-E0C2-B2D2-1E1C-2BB6F5547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0D254-0A68-AC96-F6AF-B1B3B973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4180A-F27E-32EF-55E1-A04E5C3F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13E8-124A-CBED-639A-EFBBF505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58397-43F1-5D6D-0B09-AAA880CD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468B4-1EC7-C9B1-7886-63A0E7E09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CAB2-C40B-D2D2-6009-282A758B9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042AB-4A44-F84F-9510-A2E83DC42DAE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6A27-D9EB-9682-9A93-770FCAD4E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CE5BC-62EA-C0B0-DA90-01354355F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7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49B6-B5F4-2DE0-F984-AF0638656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707" y="1766812"/>
            <a:ext cx="9586586" cy="2622919"/>
          </a:xfrm>
        </p:spPr>
        <p:txBody>
          <a:bodyPr>
            <a:normAutofit/>
          </a:bodyPr>
          <a:lstStyle/>
          <a:p>
            <a:r>
              <a:rPr lang="en-US" sz="4400" dirty="0"/>
              <a:t>Lab 14</a:t>
            </a: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7628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0A16-3982-E65A-1A77-B5C80804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06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Is a valid AVL Tree?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FDE16-DAC8-7AB6-712D-75564FBAFC32}"/>
              </a:ext>
            </a:extLst>
          </p:cNvPr>
          <p:cNvSpPr txBox="1"/>
          <p:nvPr/>
        </p:nvSpPr>
        <p:spPr>
          <a:xfrm>
            <a:off x="648753" y="1006079"/>
            <a:ext cx="111114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Write a Python function named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is_valid_AVL_tree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(root) </a:t>
            </a:r>
            <a:r>
              <a:rPr lang="en-US" sz="2200" dirty="0"/>
              <a:t>that takes the root node of a binary tree as input and returns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200" dirty="0"/>
              <a:t> if it is a valid AVL tree; otherwise, it returns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200" dirty="0"/>
              <a:t>. </a:t>
            </a:r>
            <a:r>
              <a:rPr lang="en-US" sz="2200" i="1" dirty="0"/>
              <a:t>Note: An AVL tree is a balanced binary search tree (BST).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Test your method using the following three cases. Include your driver code in your submission/.</a:t>
            </a:r>
            <a:r>
              <a:rPr lang="en-US" sz="2200" dirty="0" err="1"/>
              <a:t>py</a:t>
            </a:r>
            <a:r>
              <a:rPr lang="en-US" sz="2200" dirty="0"/>
              <a:t> file.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83F466-74CA-5470-DF6C-779E477A926C}"/>
              </a:ext>
            </a:extLst>
          </p:cNvPr>
          <p:cNvSpPr/>
          <p:nvPr/>
        </p:nvSpPr>
        <p:spPr>
          <a:xfrm>
            <a:off x="1790700" y="3728264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0521EE-B5A8-8702-00D4-C69EE1530A6F}"/>
              </a:ext>
            </a:extLst>
          </p:cNvPr>
          <p:cNvSpPr/>
          <p:nvPr/>
        </p:nvSpPr>
        <p:spPr>
          <a:xfrm>
            <a:off x="1168400" y="4435080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3A3CB1-6FE1-AFBE-FFDA-950DE2DC3DF4}"/>
              </a:ext>
            </a:extLst>
          </p:cNvPr>
          <p:cNvSpPr/>
          <p:nvPr/>
        </p:nvSpPr>
        <p:spPr>
          <a:xfrm>
            <a:off x="2247900" y="4459327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B480CD-C8CA-7B58-B0B4-D7C65999DF17}"/>
              </a:ext>
            </a:extLst>
          </p:cNvPr>
          <p:cNvSpPr/>
          <p:nvPr/>
        </p:nvSpPr>
        <p:spPr>
          <a:xfrm>
            <a:off x="1790700" y="5166143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8AD5C2-3244-E29D-9687-DC87DA7A15A5}"/>
              </a:ext>
            </a:extLst>
          </p:cNvPr>
          <p:cNvSpPr/>
          <p:nvPr/>
        </p:nvSpPr>
        <p:spPr>
          <a:xfrm>
            <a:off x="2705100" y="5166143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29240B-4B68-B35B-20EF-E189E8E607A9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1558645" y="4096828"/>
            <a:ext cx="299010" cy="401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7C4C41-EE34-7012-1FED-B33427FD3BD8}"/>
              </a:ext>
            </a:extLst>
          </p:cNvPr>
          <p:cNvCxnSpPr>
            <a:cxnSpLocks/>
            <a:stCxn id="3" idx="5"/>
            <a:endCxn id="6" idx="0"/>
          </p:cNvCxnSpPr>
          <p:nvPr/>
        </p:nvCxnSpPr>
        <p:spPr>
          <a:xfrm>
            <a:off x="2180945" y="4096828"/>
            <a:ext cx="295555" cy="3624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71EEF6-346B-FB58-3F27-FD06ABAC6E33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flipV="1">
            <a:off x="2019300" y="4827891"/>
            <a:ext cx="295555" cy="338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1C4477-9751-82C1-4E32-DE0F87358EDC}"/>
              </a:ext>
            </a:extLst>
          </p:cNvPr>
          <p:cNvCxnSpPr>
            <a:cxnSpLocks/>
            <a:stCxn id="8" idx="0"/>
            <a:endCxn id="6" idx="5"/>
          </p:cNvCxnSpPr>
          <p:nvPr/>
        </p:nvCxnSpPr>
        <p:spPr>
          <a:xfrm flipH="1" flipV="1">
            <a:off x="2638145" y="4827891"/>
            <a:ext cx="295555" cy="338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8845058-4942-4D0C-26A4-FB6CC15717E8}"/>
              </a:ext>
            </a:extLst>
          </p:cNvPr>
          <p:cNvSpPr/>
          <p:nvPr/>
        </p:nvSpPr>
        <p:spPr>
          <a:xfrm>
            <a:off x="4521200" y="3666391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EDA586-2D92-77A5-F227-0E22C6533010}"/>
              </a:ext>
            </a:extLst>
          </p:cNvPr>
          <p:cNvSpPr/>
          <p:nvPr/>
        </p:nvSpPr>
        <p:spPr>
          <a:xfrm>
            <a:off x="3898900" y="4373207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5CFF97-4A04-4E65-D090-7F8C9C3FB788}"/>
              </a:ext>
            </a:extLst>
          </p:cNvPr>
          <p:cNvSpPr/>
          <p:nvPr/>
        </p:nvSpPr>
        <p:spPr>
          <a:xfrm>
            <a:off x="4978400" y="4397454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4489CA-7B98-2B83-0AFF-B57556EAF4FD}"/>
              </a:ext>
            </a:extLst>
          </p:cNvPr>
          <p:cNvSpPr/>
          <p:nvPr/>
        </p:nvSpPr>
        <p:spPr>
          <a:xfrm>
            <a:off x="4521200" y="5104270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707A7D1-74F7-69F6-2065-A0D3848FE691}"/>
              </a:ext>
            </a:extLst>
          </p:cNvPr>
          <p:cNvSpPr/>
          <p:nvPr/>
        </p:nvSpPr>
        <p:spPr>
          <a:xfrm>
            <a:off x="5435600" y="5104270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62B833-99F1-5B0A-9BA5-34A6AC468E61}"/>
              </a:ext>
            </a:extLst>
          </p:cNvPr>
          <p:cNvCxnSpPr>
            <a:cxnSpLocks/>
            <a:stCxn id="23" idx="3"/>
            <a:endCxn id="24" idx="7"/>
          </p:cNvCxnSpPr>
          <p:nvPr/>
        </p:nvCxnSpPr>
        <p:spPr>
          <a:xfrm flipH="1">
            <a:off x="4289145" y="4034955"/>
            <a:ext cx="299010" cy="401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EB0138B-A3C1-D47D-A834-77490F10B5A9}"/>
              </a:ext>
            </a:extLst>
          </p:cNvPr>
          <p:cNvCxnSpPr>
            <a:cxnSpLocks/>
            <a:stCxn id="23" idx="5"/>
            <a:endCxn id="25" idx="0"/>
          </p:cNvCxnSpPr>
          <p:nvPr/>
        </p:nvCxnSpPr>
        <p:spPr>
          <a:xfrm>
            <a:off x="4911445" y="4034955"/>
            <a:ext cx="295555" cy="3624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EE58AC-ED94-829B-19D0-C4C48D22973D}"/>
              </a:ext>
            </a:extLst>
          </p:cNvPr>
          <p:cNvCxnSpPr>
            <a:cxnSpLocks/>
            <a:stCxn id="26" idx="0"/>
            <a:endCxn id="25" idx="3"/>
          </p:cNvCxnSpPr>
          <p:nvPr/>
        </p:nvCxnSpPr>
        <p:spPr>
          <a:xfrm flipV="1">
            <a:off x="4749800" y="4766018"/>
            <a:ext cx="295555" cy="338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A268CC-0066-E91D-C16F-9C6CCE7336B2}"/>
              </a:ext>
            </a:extLst>
          </p:cNvPr>
          <p:cNvCxnSpPr>
            <a:cxnSpLocks/>
            <a:stCxn id="27" idx="0"/>
            <a:endCxn id="25" idx="5"/>
          </p:cNvCxnSpPr>
          <p:nvPr/>
        </p:nvCxnSpPr>
        <p:spPr>
          <a:xfrm flipH="1" flipV="1">
            <a:off x="5368645" y="4766018"/>
            <a:ext cx="295555" cy="338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5065B15D-A6BD-320B-3D3D-0A62D627F9E7}"/>
              </a:ext>
            </a:extLst>
          </p:cNvPr>
          <p:cNvSpPr/>
          <p:nvPr/>
        </p:nvSpPr>
        <p:spPr>
          <a:xfrm>
            <a:off x="7844433" y="3188186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07A170D-04EA-6181-97B9-1BFD533B1870}"/>
              </a:ext>
            </a:extLst>
          </p:cNvPr>
          <p:cNvSpPr/>
          <p:nvPr/>
        </p:nvSpPr>
        <p:spPr>
          <a:xfrm>
            <a:off x="7222133" y="3895002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80EB5B-C83C-52AA-44A2-42DA5EEFC106}"/>
              </a:ext>
            </a:extLst>
          </p:cNvPr>
          <p:cNvSpPr/>
          <p:nvPr/>
        </p:nvSpPr>
        <p:spPr>
          <a:xfrm>
            <a:off x="8301633" y="3919249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A09F75E-D101-46BA-6D3C-3CE517E4F436}"/>
              </a:ext>
            </a:extLst>
          </p:cNvPr>
          <p:cNvSpPr/>
          <p:nvPr/>
        </p:nvSpPr>
        <p:spPr>
          <a:xfrm>
            <a:off x="7844433" y="4626065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B0F6804-097D-9298-137E-124481FA3872}"/>
              </a:ext>
            </a:extLst>
          </p:cNvPr>
          <p:cNvSpPr/>
          <p:nvPr/>
        </p:nvSpPr>
        <p:spPr>
          <a:xfrm>
            <a:off x="8758833" y="4626065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A3DEA54-DFEB-1269-9E95-B87787C315AB}"/>
              </a:ext>
            </a:extLst>
          </p:cNvPr>
          <p:cNvCxnSpPr>
            <a:cxnSpLocks/>
            <a:stCxn id="32" idx="3"/>
            <a:endCxn id="33" idx="7"/>
          </p:cNvCxnSpPr>
          <p:nvPr/>
        </p:nvCxnSpPr>
        <p:spPr>
          <a:xfrm flipH="1">
            <a:off x="7612378" y="3556750"/>
            <a:ext cx="299010" cy="401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0A13103-B47E-73D3-7123-48A308813E56}"/>
              </a:ext>
            </a:extLst>
          </p:cNvPr>
          <p:cNvCxnSpPr>
            <a:cxnSpLocks/>
            <a:stCxn id="32" idx="5"/>
            <a:endCxn id="34" idx="0"/>
          </p:cNvCxnSpPr>
          <p:nvPr/>
        </p:nvCxnSpPr>
        <p:spPr>
          <a:xfrm>
            <a:off x="8234678" y="3556750"/>
            <a:ext cx="295555" cy="3624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F5AAC7-7E8B-1BB0-1365-72060E1F3810}"/>
              </a:ext>
            </a:extLst>
          </p:cNvPr>
          <p:cNvCxnSpPr>
            <a:cxnSpLocks/>
            <a:stCxn id="35" idx="0"/>
            <a:endCxn id="34" idx="3"/>
          </p:cNvCxnSpPr>
          <p:nvPr/>
        </p:nvCxnSpPr>
        <p:spPr>
          <a:xfrm flipV="1">
            <a:off x="8073033" y="4287813"/>
            <a:ext cx="295555" cy="338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B1F5A4E-D650-2A76-6D2E-46CEA707A33B}"/>
              </a:ext>
            </a:extLst>
          </p:cNvPr>
          <p:cNvCxnSpPr>
            <a:cxnSpLocks/>
            <a:stCxn id="36" idx="0"/>
            <a:endCxn id="34" idx="5"/>
          </p:cNvCxnSpPr>
          <p:nvPr/>
        </p:nvCxnSpPr>
        <p:spPr>
          <a:xfrm flipH="1" flipV="1">
            <a:off x="8691878" y="4287813"/>
            <a:ext cx="295555" cy="338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226B5EC-8A34-84C2-F18A-9D0AB2CBA452}"/>
              </a:ext>
            </a:extLst>
          </p:cNvPr>
          <p:cNvSpPr/>
          <p:nvPr/>
        </p:nvSpPr>
        <p:spPr>
          <a:xfrm>
            <a:off x="9187178" y="5292002"/>
            <a:ext cx="457200" cy="431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EF75BBF-9DB5-3236-BF8D-CC5A598D3B14}"/>
              </a:ext>
            </a:extLst>
          </p:cNvPr>
          <p:cNvCxnSpPr>
            <a:cxnSpLocks/>
            <a:stCxn id="41" idx="0"/>
            <a:endCxn id="36" idx="5"/>
          </p:cNvCxnSpPr>
          <p:nvPr/>
        </p:nvCxnSpPr>
        <p:spPr>
          <a:xfrm flipH="1" flipV="1">
            <a:off x="9149078" y="4994629"/>
            <a:ext cx="266700" cy="2973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A1A4E58-8610-8BC9-E373-BEB02DA948E7}"/>
              </a:ext>
            </a:extLst>
          </p:cNvPr>
          <p:cNvSpPr txBox="1"/>
          <p:nvPr/>
        </p:nvSpPr>
        <p:spPr>
          <a:xfrm>
            <a:off x="1132125" y="5764670"/>
            <a:ext cx="1745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Valid AVL Tree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E84E7A-99F0-BB96-742F-8E4A5ED8EF00}"/>
              </a:ext>
            </a:extLst>
          </p:cNvPr>
          <p:cNvSpPr txBox="1"/>
          <p:nvPr/>
        </p:nvSpPr>
        <p:spPr>
          <a:xfrm>
            <a:off x="3817849" y="5772097"/>
            <a:ext cx="2668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Invalid AVL Tree</a:t>
            </a:r>
          </a:p>
          <a:p>
            <a:r>
              <a:rPr lang="en-US" dirty="0"/>
              <a:t>(balanced, but not a BST)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FB7AE8-C4DA-1755-894A-3A1CA718F180}"/>
              </a:ext>
            </a:extLst>
          </p:cNvPr>
          <p:cNvSpPr txBox="1"/>
          <p:nvPr/>
        </p:nvSpPr>
        <p:spPr>
          <a:xfrm>
            <a:off x="7243033" y="5758500"/>
            <a:ext cx="2648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Invalid AVL Tree</a:t>
            </a:r>
            <a:br>
              <a:rPr lang="en-US" dirty="0"/>
            </a:br>
            <a:r>
              <a:rPr lang="en-US" dirty="0"/>
              <a:t>(a BST, but not balanced)</a:t>
            </a:r>
          </a:p>
        </p:txBody>
      </p:sp>
    </p:spTree>
    <p:extLst>
      <p:ext uri="{BB962C8B-B14F-4D97-AF65-F5344CB8AC3E}">
        <p14:creationId xmlns:p14="http://schemas.microsoft.com/office/powerpoint/2010/main" val="86147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FD35-8A4D-3B4A-AC25-A89E0E5C9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920" y="44770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Submission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38A41-AB0C-6620-52B8-F9F3B7089747}"/>
              </a:ext>
            </a:extLst>
          </p:cNvPr>
          <p:cNvSpPr txBox="1"/>
          <p:nvPr/>
        </p:nvSpPr>
        <p:spPr>
          <a:xfrm>
            <a:off x="1138824" y="1692688"/>
            <a:ext cx="10284913" cy="304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the following in iCollege: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script/solution (FULL_NAME_Lab14.py)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date/time for submission: Within 24 hours from your lab’s end time.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Lab attendance is mandatory. Your </a:t>
            </a:r>
            <a:r>
              <a:rPr lang="en-US" sz="2200" dirty="0" err="1">
                <a:solidFill>
                  <a:prstClr val="black"/>
                </a:solidFill>
                <a:latin typeface="Calibri" panose="020F0502020204030204"/>
              </a:rPr>
              <a:t>iCollege</a:t>
            </a: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 submission will only be considered for grading if you attend the corresponding lab session in-person.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 dirty="0">
              <a:solidFill>
                <a:prstClr val="black"/>
              </a:solidFill>
              <a:highlight>
                <a:srgbClr val="FFFF00"/>
              </a:highlight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Be prepared to answer a few questions on your solution/partial solution during the lab session.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67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208</Words>
  <Application>Microsoft Macintosh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Lab 14  </vt:lpstr>
      <vt:lpstr>Is a valid AVL Tree?</vt:lpstr>
      <vt:lpstr>Submission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M Towhidul Islam</dc:creator>
  <cp:lastModifiedBy>S M Towhidul Islam</cp:lastModifiedBy>
  <cp:revision>147</cp:revision>
  <dcterms:created xsi:type="dcterms:W3CDTF">2024-09-15T21:36:41Z</dcterms:created>
  <dcterms:modified xsi:type="dcterms:W3CDTF">2025-11-30T23:55:04Z</dcterms:modified>
</cp:coreProperties>
</file>