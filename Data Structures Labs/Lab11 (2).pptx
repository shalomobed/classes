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96" r:id="rId3"/>
    <p:sldId id="297" r:id="rId4"/>
    <p:sldId id="29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614"/>
  </p:normalViewPr>
  <p:slideViewPr>
    <p:cSldViewPr snapToGrid="0">
      <p:cViewPr varScale="1">
        <p:scale>
          <a:sx n="101" d="100"/>
          <a:sy n="101" d="100"/>
        </p:scale>
        <p:origin x="5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1A17B-A4BC-1771-DFC7-210806D797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1491C0-B427-C17A-E4B2-667526BD84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EDF33-32AA-68DA-14FC-8BDD5AB20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042AB-4A44-F84F-9510-A2E83DC42DAE}" type="datetimeFigureOut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F76E8-A4A1-383F-B5D3-5AAAE492A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DD1E8-7708-C1DD-2F63-E800AB8F7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1606F-61AD-F042-A702-25F811201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351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011B4-EC11-924C-2F3F-437624FA4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D9CC7-6919-5536-2602-5FD8AAF27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FCCC5-A27D-9681-85E8-FD20CED92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042AB-4A44-F84F-9510-A2E83DC42DAE}" type="datetimeFigureOut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E6484-5A0A-9942-89D4-58BAE417B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3BA09-D3A0-EDCD-BFDA-30EC26AD2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1606F-61AD-F042-A702-25F811201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143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88BE0-E579-9096-93C1-E1934CCD4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F6E80-707B-EA22-284F-E4743DF59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54F03-D268-3E67-B5BE-A0D0E0D73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042AB-4A44-F84F-9510-A2E83DC42DAE}" type="datetimeFigureOut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FBBD8-EECF-D992-4E9A-CC98738AF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ACCC1-04CD-FE6D-391E-47185A8F9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1606F-61AD-F042-A702-25F811201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627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A80A4-2727-370F-7A4D-259F05C0D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EB1B9-40C5-44C6-6F5F-FB451D5802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11613E-65AB-C8E7-797C-A118F92E28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49C6A0-56DE-CDF5-56EE-70899BC42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042AB-4A44-F84F-9510-A2E83DC42DAE}" type="datetimeFigureOut">
              <a:rPr lang="en-US" smtClean="0"/>
              <a:t>11/1/25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71B1A5-52A8-5A5D-703B-C225A63F8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37D10B-0997-8A8C-8987-51B8C290E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1606F-61AD-F042-A702-25F811201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098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17F5F-168B-DECE-EE2F-BE9FB6CF1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66771-5E5D-5D85-2988-03B122D2D9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B170B9-2055-B62B-AE2B-7064ECB8B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8C0A94-297C-A1B0-C23F-881BA4B734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5BDDB-A485-EEA7-30F4-89057A6664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A9B5C3-8D2A-1B82-955D-C99F07C6B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042AB-4A44-F84F-9510-A2E83DC42DAE}" type="datetimeFigureOut">
              <a:rPr lang="en-US" smtClean="0"/>
              <a:t>11/1/25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861954-E9B3-018F-2BB2-420AC9940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000138-2CD8-4811-17E8-9915D6E73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1606F-61AD-F042-A702-25F811201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830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B9601-3768-426E-897B-0CA6D8A40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B5C0E3-2BD2-400E-2288-66A769794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042AB-4A44-F84F-9510-A2E83DC42DAE}" type="datetimeFigureOut">
              <a:rPr lang="en-US" smtClean="0"/>
              <a:t>11/1/25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660128-B536-7E57-3D10-3094BFEE4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B8224D-2A61-C5E5-BA3E-A45407B9F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1606F-61AD-F042-A702-25F811201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177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B3259A-C490-37E6-D04E-16E14EE46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042AB-4A44-F84F-9510-A2E83DC42DAE}" type="datetimeFigureOut">
              <a:rPr lang="en-US" smtClean="0"/>
              <a:t>11/1/25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732743-D39F-159D-A442-32A162159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A86CB0-BD8D-5F14-1F0F-74569FA6A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1606F-61AD-F042-A702-25F811201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490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94A07-4D4B-DD9F-CD1E-F6F87080D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FBF44-467B-F4F6-E54A-BBBA382AF3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58B6E6-223D-A70C-3372-5AA3FC7B0B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0EAFBE-0FC4-0410-6039-0451601EF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042AB-4A44-F84F-9510-A2E83DC42DAE}" type="datetimeFigureOut">
              <a:rPr lang="en-US" smtClean="0"/>
              <a:t>11/1/25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57291-0E3B-612E-74AA-31DE1FA43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CEA29E-0319-1047-6F81-FC94716A2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1606F-61AD-F042-A702-25F811201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136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E29D7-E972-8DBE-3AD0-F8BE8DA9D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5D9861-6F23-6519-E62A-C823AE6EB3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23BD83-FA4D-89F0-47B3-A11739D012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A11553-56D1-24A6-34B2-5B9345F7A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042AB-4A44-F84F-9510-A2E83DC42DAE}" type="datetimeFigureOut">
              <a:rPr lang="en-US" smtClean="0"/>
              <a:t>11/1/25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8D5C31-0786-1CDA-500F-AB397F595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A37BC1-3B3C-907C-CF70-F0890E6DD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1606F-61AD-F042-A702-25F811201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9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5AFD9-A873-6995-AAE3-C48BF28ED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79F92F-C136-78F0-FE08-ACCDAC9850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77AAE-104B-91B9-A90A-E64B1CAD5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042AB-4A44-F84F-9510-A2E83DC42DAE}" type="datetimeFigureOut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26B50E-F569-CA07-75CC-969A1B1BE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769B6-C882-07DF-F433-50A8EE2AD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1606F-61AD-F042-A702-25F811201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761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EA3FFC-4662-7300-BCBF-16D00A7CA6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309A46-E0C2-B2D2-1E1C-2BB6F55476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E0D254-0A68-AC96-F6AF-B1B3B9737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042AB-4A44-F84F-9510-A2E83DC42DAE}" type="datetimeFigureOut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4180A-F27E-32EF-55E1-A04E5C3F8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613E8-124A-CBED-639A-EFBBF5054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1606F-61AD-F042-A702-25F811201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015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258397-43F1-5D6D-0B09-AAA880CDF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468B4-1EC7-C9B1-7886-63A0E7E09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1CAB2-C40B-D2D2-6009-282A758B97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3042AB-4A44-F84F-9510-A2E83DC42DAE}" type="datetimeFigureOut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576A27-D9EB-9682-9A93-770FCAD4EA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7CE5BC-62EA-C0B0-DA90-01354355F4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51606F-61AD-F042-A702-25F811201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177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249B6-B5F4-2DE0-F984-AF06386566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 11</a:t>
            </a:r>
          </a:p>
        </p:txBody>
      </p:sp>
    </p:spTree>
    <p:extLst>
      <p:ext uri="{BB962C8B-B14F-4D97-AF65-F5344CB8AC3E}">
        <p14:creationId xmlns:p14="http://schemas.microsoft.com/office/powerpoint/2010/main" val="1176282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70A16-3982-E65A-1A77-B5C808049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9941" y="-118016"/>
            <a:ext cx="10515600" cy="1325563"/>
          </a:xfrm>
        </p:spPr>
        <p:txBody>
          <a:bodyPr>
            <a:normAutofit/>
          </a:bodyPr>
          <a:lstStyle/>
          <a:p>
            <a:r>
              <a:rPr lang="en-US" sz="3400" dirty="0">
                <a:latin typeface="Arial Rounded MT Bold" panose="020F0704030504030204" pitchFamily="34" charset="77"/>
                <a:cs typeface="Courier New" panose="02070309020205020404" pitchFamily="49" charset="0"/>
              </a:rPr>
              <a:t>Directed Graph – Cycle Detection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1FDE16-DAC8-7AB6-712D-75564FBAFC32}"/>
              </a:ext>
            </a:extLst>
          </p:cNvPr>
          <p:cNvSpPr txBox="1"/>
          <p:nvPr/>
        </p:nvSpPr>
        <p:spPr>
          <a:xfrm>
            <a:off x="474300" y="874557"/>
            <a:ext cx="9929321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Python function named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extractCycle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(graph, start).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   An adjacency list representing a directed graph and a start node.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If the ‘start’ node is part of a cycle, return the cycle as a list of nodes.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Otherwise, return an empty list.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when the method is called with the following graph with start=0,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should return </a:t>
            </a:r>
            <a:r>
              <a:rPr lang="en-US" sz="2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[0, 1, 2, 4, 0]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00E1FE5-E72D-C2B1-6F0D-2B6563251ED1}"/>
              </a:ext>
            </a:extLst>
          </p:cNvPr>
          <p:cNvSpPr/>
          <p:nvPr/>
        </p:nvSpPr>
        <p:spPr>
          <a:xfrm>
            <a:off x="4416270" y="3968359"/>
            <a:ext cx="752606" cy="6638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0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F622431-0643-5789-9986-D1C8AAF5DCB1}"/>
              </a:ext>
            </a:extLst>
          </p:cNvPr>
          <p:cNvSpPr/>
          <p:nvPr/>
        </p:nvSpPr>
        <p:spPr>
          <a:xfrm>
            <a:off x="8933990" y="5700082"/>
            <a:ext cx="752606" cy="6638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9367CE1-BDEB-9CD1-7EEC-815EB1023DC7}"/>
              </a:ext>
            </a:extLst>
          </p:cNvPr>
          <p:cNvSpPr/>
          <p:nvPr/>
        </p:nvSpPr>
        <p:spPr>
          <a:xfrm>
            <a:off x="8921464" y="3971491"/>
            <a:ext cx="752606" cy="6638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62BD829-C1E6-B03A-FFA1-5AE471D42C0F}"/>
              </a:ext>
            </a:extLst>
          </p:cNvPr>
          <p:cNvSpPr/>
          <p:nvPr/>
        </p:nvSpPr>
        <p:spPr>
          <a:xfrm>
            <a:off x="6668867" y="5700082"/>
            <a:ext cx="752606" cy="6638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786367B-9AEF-1103-6575-668BB866B9DD}"/>
              </a:ext>
            </a:extLst>
          </p:cNvPr>
          <p:cNvSpPr/>
          <p:nvPr/>
        </p:nvSpPr>
        <p:spPr>
          <a:xfrm>
            <a:off x="6668867" y="3971491"/>
            <a:ext cx="752606" cy="6638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C58FA76-6084-4F15-BE33-3A832CD5E17B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5168876" y="4300299"/>
            <a:ext cx="1499991" cy="31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C89E462-008B-3E5A-4C6B-328EE3765F53}"/>
              </a:ext>
            </a:extLst>
          </p:cNvPr>
          <p:cNvCxnSpPr/>
          <p:nvPr/>
        </p:nvCxnSpPr>
        <p:spPr>
          <a:xfrm>
            <a:off x="7433999" y="4284641"/>
            <a:ext cx="1499991" cy="31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C76259C-D17B-8B65-8FCE-846AFB3559EF}"/>
              </a:ext>
            </a:extLst>
          </p:cNvPr>
          <p:cNvCxnSpPr>
            <a:cxnSpLocks/>
            <a:stCxn id="6" idx="3"/>
            <a:endCxn id="7" idx="7"/>
          </p:cNvCxnSpPr>
          <p:nvPr/>
        </p:nvCxnSpPr>
        <p:spPr>
          <a:xfrm flipH="1">
            <a:off x="7311256" y="4538148"/>
            <a:ext cx="1720425" cy="12591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653323C-C554-9250-EF2A-B637AF8458DD}"/>
              </a:ext>
            </a:extLst>
          </p:cNvPr>
          <p:cNvCxnSpPr>
            <a:cxnSpLocks/>
            <a:stCxn id="7" idx="1"/>
            <a:endCxn id="3" idx="5"/>
          </p:cNvCxnSpPr>
          <p:nvPr/>
        </p:nvCxnSpPr>
        <p:spPr>
          <a:xfrm flipH="1" flipV="1">
            <a:off x="5058659" y="4535016"/>
            <a:ext cx="1720425" cy="12622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85AF9A1-4286-A4FF-133C-2A32FE093459}"/>
              </a:ext>
            </a:extLst>
          </p:cNvPr>
          <p:cNvCxnSpPr>
            <a:cxnSpLocks/>
            <a:stCxn id="5" idx="0"/>
            <a:endCxn id="6" idx="4"/>
          </p:cNvCxnSpPr>
          <p:nvPr/>
        </p:nvCxnSpPr>
        <p:spPr>
          <a:xfrm flipH="1" flipV="1">
            <a:off x="9297767" y="4635371"/>
            <a:ext cx="12526" cy="10647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Graphic 23" descr="Arrow circle with solid fill">
            <a:extLst>
              <a:ext uri="{FF2B5EF4-FFF2-40B4-BE49-F238E27FC236}">
                <a16:creationId xmlns:a16="http://schemas.microsoft.com/office/drawing/2014/main" id="{B56D8765-5886-7808-1F28-60E06103ED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58058" y="4628645"/>
            <a:ext cx="914400" cy="914400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4482F8C2-0A9B-CCDC-2E13-0C8536EC4089}"/>
              </a:ext>
            </a:extLst>
          </p:cNvPr>
          <p:cNvSpPr/>
          <p:nvPr/>
        </p:nvSpPr>
        <p:spPr>
          <a:xfrm>
            <a:off x="4406593" y="5700082"/>
            <a:ext cx="752606" cy="6638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2C20709-F68F-F883-6B5F-1A8A26155F6F}"/>
              </a:ext>
            </a:extLst>
          </p:cNvPr>
          <p:cNvCxnSpPr>
            <a:cxnSpLocks/>
            <a:stCxn id="3" idx="4"/>
            <a:endCxn id="25" idx="0"/>
          </p:cNvCxnSpPr>
          <p:nvPr/>
        </p:nvCxnSpPr>
        <p:spPr>
          <a:xfrm flipH="1">
            <a:off x="4782896" y="4632239"/>
            <a:ext cx="9677" cy="10678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8BFF37E-12F8-4AF6-50AA-59CED083D446}"/>
              </a:ext>
            </a:extLst>
          </p:cNvPr>
          <p:cNvCxnSpPr>
            <a:cxnSpLocks/>
            <a:stCxn id="7" idx="2"/>
            <a:endCxn id="25" idx="6"/>
          </p:cNvCxnSpPr>
          <p:nvPr/>
        </p:nvCxnSpPr>
        <p:spPr>
          <a:xfrm flipH="1">
            <a:off x="5159199" y="6032022"/>
            <a:ext cx="15096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3DBF2567-4583-3C55-C04B-5986D38C7256}"/>
              </a:ext>
            </a:extLst>
          </p:cNvPr>
          <p:cNvSpPr txBox="1"/>
          <p:nvPr/>
        </p:nvSpPr>
        <p:spPr>
          <a:xfrm>
            <a:off x="10462116" y="6363962"/>
            <a:ext cx="14739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i="1" dirty="0"/>
              <a:t>Hints: DFS</a:t>
            </a:r>
          </a:p>
        </p:txBody>
      </p:sp>
    </p:spTree>
    <p:extLst>
      <p:ext uri="{BB962C8B-B14F-4D97-AF65-F5344CB8AC3E}">
        <p14:creationId xmlns:p14="http://schemas.microsoft.com/office/powerpoint/2010/main" val="861471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912904-30EF-A342-D0A5-39D3A3C854F6}"/>
              </a:ext>
            </a:extLst>
          </p:cNvPr>
          <p:cNvSpPr txBox="1"/>
          <p:nvPr/>
        </p:nvSpPr>
        <p:spPr>
          <a:xfrm>
            <a:off x="1252602" y="1002082"/>
            <a:ext cx="7152361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002060"/>
                </a:solidFill>
                <a:effectLst/>
              </a:rPr>
              <a:t>#Adjacency list representing the graph</a:t>
            </a:r>
            <a:br>
              <a:rPr lang="en-US" sz="2200" dirty="0">
                <a:solidFill>
                  <a:srgbClr val="002060"/>
                </a:solidFill>
                <a:effectLst/>
              </a:rPr>
            </a:br>
            <a:r>
              <a:rPr lang="en-US" sz="2200" dirty="0">
                <a:solidFill>
                  <a:srgbClr val="002060"/>
                </a:solidFill>
                <a:effectLst/>
              </a:rPr>
              <a:t>adj = [</a:t>
            </a:r>
            <a:br>
              <a:rPr lang="en-US" sz="2200" dirty="0">
                <a:solidFill>
                  <a:srgbClr val="002060"/>
                </a:solidFill>
                <a:effectLst/>
              </a:rPr>
            </a:br>
            <a:r>
              <a:rPr lang="en-US" sz="2200" dirty="0">
                <a:solidFill>
                  <a:srgbClr val="002060"/>
                </a:solidFill>
                <a:effectLst/>
              </a:rPr>
              <a:t>                [1,3],</a:t>
            </a:r>
            <a:br>
              <a:rPr lang="en-US" sz="2200" dirty="0">
                <a:solidFill>
                  <a:srgbClr val="002060"/>
                </a:solidFill>
                <a:effectLst/>
              </a:rPr>
            </a:br>
            <a:r>
              <a:rPr lang="en-US" sz="2200" dirty="0">
                <a:solidFill>
                  <a:srgbClr val="002060"/>
                </a:solidFill>
                <a:effectLst/>
              </a:rPr>
              <a:t>                [2],</a:t>
            </a:r>
            <a:br>
              <a:rPr lang="en-US" sz="2200" dirty="0">
                <a:solidFill>
                  <a:srgbClr val="002060"/>
                </a:solidFill>
                <a:effectLst/>
              </a:rPr>
            </a:br>
            <a:r>
              <a:rPr lang="en-US" sz="2200" dirty="0">
                <a:solidFill>
                  <a:srgbClr val="002060"/>
                </a:solidFill>
                <a:effectLst/>
              </a:rPr>
              <a:t>                [4],</a:t>
            </a:r>
            <a:br>
              <a:rPr lang="en-US" sz="2200" dirty="0">
                <a:solidFill>
                  <a:srgbClr val="002060"/>
                </a:solidFill>
                <a:effectLst/>
              </a:rPr>
            </a:br>
            <a:r>
              <a:rPr lang="en-US" sz="2200" dirty="0">
                <a:solidFill>
                  <a:srgbClr val="002060"/>
                </a:solidFill>
                <a:effectLst/>
              </a:rPr>
              <a:t>                [],</a:t>
            </a:r>
            <a:br>
              <a:rPr lang="en-US" sz="2200" dirty="0">
                <a:solidFill>
                  <a:srgbClr val="002060"/>
                </a:solidFill>
                <a:effectLst/>
              </a:rPr>
            </a:br>
            <a:r>
              <a:rPr lang="en-US" sz="2200" dirty="0">
                <a:solidFill>
                  <a:srgbClr val="002060"/>
                </a:solidFill>
                <a:effectLst/>
              </a:rPr>
              <a:t>                [0,3],</a:t>
            </a:r>
            <a:br>
              <a:rPr lang="en-US" sz="2200" dirty="0">
                <a:solidFill>
                  <a:srgbClr val="002060"/>
                </a:solidFill>
                <a:effectLst/>
              </a:rPr>
            </a:br>
            <a:r>
              <a:rPr lang="en-US" sz="2200" dirty="0">
                <a:solidFill>
                  <a:srgbClr val="002060"/>
                </a:solidFill>
                <a:effectLst/>
              </a:rPr>
              <a:t>                [2]</a:t>
            </a:r>
            <a:br>
              <a:rPr lang="en-US" sz="2200" dirty="0">
                <a:solidFill>
                  <a:srgbClr val="002060"/>
                </a:solidFill>
                <a:effectLst/>
              </a:rPr>
            </a:br>
            <a:r>
              <a:rPr lang="en-US" sz="2200" dirty="0">
                <a:solidFill>
                  <a:srgbClr val="002060"/>
                </a:solidFill>
                <a:effectLst/>
              </a:rPr>
              <a:t>            ]</a:t>
            </a:r>
            <a:br>
              <a:rPr lang="en-US" sz="2200" dirty="0">
                <a:solidFill>
                  <a:srgbClr val="002060"/>
                </a:solidFill>
                <a:effectLst/>
              </a:rPr>
            </a:br>
            <a:br>
              <a:rPr lang="en-US" sz="2200" dirty="0">
                <a:solidFill>
                  <a:srgbClr val="002060"/>
                </a:solidFill>
                <a:effectLst/>
              </a:rPr>
            </a:br>
            <a:r>
              <a:rPr lang="en-US" sz="2200" dirty="0">
                <a:solidFill>
                  <a:srgbClr val="002060"/>
                </a:solidFill>
                <a:effectLst/>
              </a:rPr>
              <a:t>def </a:t>
            </a:r>
            <a:r>
              <a:rPr lang="en-US" sz="2200" dirty="0" err="1">
                <a:solidFill>
                  <a:srgbClr val="002060"/>
                </a:solidFill>
                <a:effectLst/>
              </a:rPr>
              <a:t>extract_cycle</a:t>
            </a:r>
            <a:r>
              <a:rPr lang="en-US" sz="2200" dirty="0">
                <a:solidFill>
                  <a:srgbClr val="002060"/>
                </a:solidFill>
                <a:effectLst/>
              </a:rPr>
              <a:t>(</a:t>
            </a:r>
            <a:r>
              <a:rPr lang="en-US" sz="2200" dirty="0" err="1">
                <a:solidFill>
                  <a:srgbClr val="002060"/>
                </a:solidFill>
                <a:effectLst/>
              </a:rPr>
              <a:t>adj_list</a:t>
            </a:r>
            <a:r>
              <a:rPr lang="en-US" sz="2200" dirty="0">
                <a:solidFill>
                  <a:srgbClr val="002060"/>
                </a:solidFill>
                <a:effectLst/>
              </a:rPr>
              <a:t>, start):</a:t>
            </a:r>
            <a:br>
              <a:rPr lang="en-US" sz="2200" dirty="0">
                <a:solidFill>
                  <a:srgbClr val="002060"/>
                </a:solidFill>
                <a:effectLst/>
              </a:rPr>
            </a:br>
            <a:r>
              <a:rPr lang="en-US" sz="2200" dirty="0">
                <a:solidFill>
                  <a:srgbClr val="002060"/>
                </a:solidFill>
                <a:effectLst/>
              </a:rPr>
              <a:t>    #</a:t>
            </a:r>
            <a:r>
              <a:rPr lang="en-US" sz="2200" i="1" dirty="0">
                <a:solidFill>
                  <a:srgbClr val="002060"/>
                </a:solidFill>
                <a:effectLst/>
              </a:rPr>
              <a:t>TODO: Implement this method</a:t>
            </a:r>
            <a:br>
              <a:rPr lang="en-US" sz="2200" i="1" dirty="0">
                <a:solidFill>
                  <a:srgbClr val="002060"/>
                </a:solidFill>
                <a:effectLst/>
              </a:rPr>
            </a:br>
            <a:br>
              <a:rPr lang="en-US" sz="2200" i="1" dirty="0">
                <a:solidFill>
                  <a:srgbClr val="002060"/>
                </a:solidFill>
                <a:effectLst/>
              </a:rPr>
            </a:br>
            <a:r>
              <a:rPr lang="en-US" sz="2200" dirty="0">
                <a:solidFill>
                  <a:srgbClr val="002060"/>
                </a:solidFill>
                <a:effectLst/>
              </a:rPr>
              <a:t>print(</a:t>
            </a:r>
            <a:r>
              <a:rPr lang="en-US" sz="2200" dirty="0" err="1">
                <a:solidFill>
                  <a:srgbClr val="002060"/>
                </a:solidFill>
                <a:effectLst/>
              </a:rPr>
              <a:t>extract_cycle</a:t>
            </a:r>
            <a:r>
              <a:rPr lang="en-US" sz="2200" dirty="0">
                <a:solidFill>
                  <a:srgbClr val="002060"/>
                </a:solidFill>
                <a:effectLst/>
              </a:rPr>
              <a:t>(adj, 0)) # Should print [0, 1, 2, 4, 0]</a:t>
            </a:r>
          </a:p>
          <a:p>
            <a:r>
              <a:rPr lang="en-US" sz="2200" dirty="0">
                <a:solidFill>
                  <a:srgbClr val="002060"/>
                </a:solidFill>
                <a:effectLst/>
              </a:rPr>
              <a:t>print(</a:t>
            </a:r>
            <a:r>
              <a:rPr lang="en-US" sz="2200" dirty="0" err="1">
                <a:solidFill>
                  <a:srgbClr val="002060"/>
                </a:solidFill>
                <a:effectLst/>
              </a:rPr>
              <a:t>extract_cycle</a:t>
            </a:r>
            <a:r>
              <a:rPr lang="en-US" sz="2200" dirty="0">
                <a:solidFill>
                  <a:srgbClr val="002060"/>
                </a:solidFill>
                <a:effectLst/>
              </a:rPr>
              <a:t>(adj, 1)) # Should print [1, 2, 4, 0, 1]</a:t>
            </a:r>
          </a:p>
          <a:p>
            <a:r>
              <a:rPr lang="en-US" sz="2200" dirty="0">
                <a:solidFill>
                  <a:srgbClr val="002060"/>
                </a:solidFill>
                <a:effectLst/>
              </a:rPr>
              <a:t>print(</a:t>
            </a:r>
            <a:r>
              <a:rPr lang="en-US" sz="2200" dirty="0" err="1">
                <a:solidFill>
                  <a:srgbClr val="002060"/>
                </a:solidFill>
                <a:effectLst/>
              </a:rPr>
              <a:t>extract_cycle</a:t>
            </a:r>
            <a:r>
              <a:rPr lang="en-US" sz="2200" dirty="0">
                <a:solidFill>
                  <a:srgbClr val="002060"/>
                </a:solidFill>
                <a:effectLst/>
              </a:rPr>
              <a:t>(adj, 3)) # Should print []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BC7CA7-F253-2DFB-D88E-B6CDB9B52584}"/>
              </a:ext>
            </a:extLst>
          </p:cNvPr>
          <p:cNvSpPr txBox="1"/>
          <p:nvPr/>
        </p:nvSpPr>
        <p:spPr>
          <a:xfrm>
            <a:off x="1252603" y="540417"/>
            <a:ext cx="23012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Example Code: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A293CF9-D909-3AED-67A5-809D6498F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5106" y="1023826"/>
            <a:ext cx="4037873" cy="186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986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9FD35-8A4D-3B4A-AC25-A89E0E5C9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1920" y="447707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Submission Instructions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338A41-AB0C-6620-52B8-F9F3B7089747}"/>
              </a:ext>
            </a:extLst>
          </p:cNvPr>
          <p:cNvSpPr txBox="1"/>
          <p:nvPr/>
        </p:nvSpPr>
        <p:spPr>
          <a:xfrm>
            <a:off x="1066640" y="1709298"/>
            <a:ext cx="10284913" cy="343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Submit the following in iCollege:</a:t>
            </a:r>
          </a:p>
          <a:p>
            <a:pPr marL="1028700" marR="0" lvl="1" indent="-5715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Python script/solution (FULL_NAME_Lab11.py)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Due date/time for submission: Within 24 hours from your lab’s end time.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25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 attendance is mandatory. Your </a:t>
            </a:r>
            <a:r>
              <a:rPr lang="en-US" sz="25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iCollege</a:t>
            </a:r>
            <a:r>
              <a:rPr lang="en-US" sz="25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submission will only be considered for grading if you attend the corresponding lab session in-person.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2500" dirty="0">
              <a:solidFill>
                <a:prstClr val="black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500" dirty="0">
                <a:solidFill>
                  <a:prstClr val="black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Be prepared to answer a couple of questions on your solution/partial solution during the lab session. 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675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2675</TotalTime>
  <Words>315</Words>
  <Application>Microsoft Macintosh PowerPoint</Application>
  <PresentationFormat>Widescreen</PresentationFormat>
  <Paragraphs>27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Aptos</vt:lpstr>
      <vt:lpstr>Aptos Display</vt:lpstr>
      <vt:lpstr>Arial</vt:lpstr>
      <vt:lpstr>Arial Rounded MT Bold</vt:lpstr>
      <vt:lpstr>Times New Roman</vt:lpstr>
      <vt:lpstr>Wingdings</vt:lpstr>
      <vt:lpstr>Office Theme</vt:lpstr>
      <vt:lpstr>Lab 11</vt:lpstr>
      <vt:lpstr>Directed Graph – Cycle Detection</vt:lpstr>
      <vt:lpstr>PowerPoint Presentation</vt:lpstr>
      <vt:lpstr>Submission Instructions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M Towhidul Islam</dc:creator>
  <cp:lastModifiedBy>S M Towhidul Islam</cp:lastModifiedBy>
  <cp:revision>131</cp:revision>
  <dcterms:created xsi:type="dcterms:W3CDTF">2024-09-15T21:36:41Z</dcterms:created>
  <dcterms:modified xsi:type="dcterms:W3CDTF">2025-11-01T19:06:07Z</dcterms:modified>
</cp:coreProperties>
</file>